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0"/>
          <a:lstStyle/>
          <a:p>
            <a:pPr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US" sz="1400" b="1" i="0" kern="0" spc="0" baseline="0">
                <a:solidFill>
                  <a:srgbClr val="292B3E"/>
                </a:solidFill>
              </a:rPr>
              <a:t>训练过程：损失与准确率变化趋势</a:t>
            </a:r>
            <a:endParaRPr lang="en-US" altLang="en-US" sz="1400" b="1" i="0" kern="0" spc="0" baseline="0">
              <a:solidFill>
                <a:srgbClr val="292B3E"/>
              </a:solidFill>
            </a:endParaRPr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Train Loss</c:f>
              <c:strCache>
                <c:ptCount val="1"/>
                <c:pt idx="0">
                  <c:v>Train Loss</c:v>
                </c:pt>
              </c:strCache>
            </c:strRef>
          </c:tx>
          <c:spPr>
            <a:ln w="19050" cap="rnd" cmpd="sng" algn="ctr">
              <a:solidFill>
                <a:srgbClr val="2F5597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{"1","5","10","15","20","24","25","28","31","32"}</c:f>
              <c:strCache>
                <c:ptCount val="1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24</c:v>
                </c:pt>
                <c:pt idx="6">
                  <c:v>25</c:v>
                </c:pt>
                <c:pt idx="7">
                  <c:v>28</c:v>
                </c:pt>
                <c:pt idx="8">
                  <c:v>31</c:v>
                </c:pt>
                <c:pt idx="9">
                  <c:v>32</c:v>
                </c:pt>
              </c:strCache>
            </c:strRef>
          </c:cat>
          <c:val>
            <c:numRef>
              <c:f>{0.55,0.5,0.47,0.46,0.47,0.47,0.48,0.47,0.47,0.47}</c:f>
              <c:numCache>
                <c:formatCode>General</c:formatCode>
                <c:ptCount val="10"/>
                <c:pt idx="0">
                  <c:v>0.55</c:v>
                </c:pt>
                <c:pt idx="1">
                  <c:v>0.5</c:v>
                </c:pt>
                <c:pt idx="2">
                  <c:v>0.47</c:v>
                </c:pt>
                <c:pt idx="3">
                  <c:v>0.46</c:v>
                </c:pt>
                <c:pt idx="4">
                  <c:v>0.47</c:v>
                </c:pt>
                <c:pt idx="5">
                  <c:v>0.47</c:v>
                </c:pt>
                <c:pt idx="6">
                  <c:v>0.48</c:v>
                </c:pt>
                <c:pt idx="7">
                  <c:v>0.47</c:v>
                </c:pt>
                <c:pt idx="8">
                  <c:v>0.47</c:v>
                </c:pt>
                <c:pt idx="9">
                  <c:v>0.47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Val Loss</c:f>
              <c:strCache>
                <c:ptCount val="1"/>
                <c:pt idx="0">
                  <c:v>Val Loss</c:v>
                </c:pt>
              </c:strCache>
            </c:strRef>
          </c:tx>
          <c:spPr>
            <a:ln w="19050" cap="rnd" cmpd="sng" algn="ctr">
              <a:solidFill>
                <a:srgbClr val="C0504D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{"1","5","10","15","20","24","25","28","31","32"}</c:f>
              <c:strCache>
                <c:ptCount val="1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24</c:v>
                </c:pt>
                <c:pt idx="6">
                  <c:v>25</c:v>
                </c:pt>
                <c:pt idx="7">
                  <c:v>28</c:v>
                </c:pt>
                <c:pt idx="8">
                  <c:v>31</c:v>
                </c:pt>
                <c:pt idx="9">
                  <c:v>32</c:v>
                </c:pt>
              </c:strCache>
            </c:strRef>
          </c:cat>
          <c:val>
            <c:numRef>
              <c:f>{0.52,0.46,0.45,0.46,0.48,0.48,0.48,0.48,0.48,0.48}</c:f>
              <c:numCache>
                <c:formatCode>General</c:formatCode>
                <c:ptCount val="10"/>
                <c:pt idx="0">
                  <c:v>0.52</c:v>
                </c:pt>
                <c:pt idx="1">
                  <c:v>0.46</c:v>
                </c:pt>
                <c:pt idx="2">
                  <c:v>0.45</c:v>
                </c:pt>
                <c:pt idx="3">
                  <c:v>0.46</c:v>
                </c:pt>
                <c:pt idx="4">
                  <c:v>0.48</c:v>
                </c:pt>
                <c:pt idx="5">
                  <c:v>0.48</c:v>
                </c:pt>
                <c:pt idx="6">
                  <c:v>0.48</c:v>
                </c:pt>
                <c:pt idx="7">
                  <c:v>0.48</c:v>
                </c:pt>
                <c:pt idx="8">
                  <c:v>0.48</c:v>
                </c:pt>
                <c:pt idx="9">
                  <c:v>0.48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754001152"/>
        <c:axId val="753999904"/>
      </c:lineChart>
      <c:lineChart>
        <c:grouping val="standard"/>
        <c:varyColors val="0"/>
        <c:ser>
          <c:idx val="2"/>
          <c:order val="2"/>
          <c:tx>
            <c:strRef>
              <c:f>Train Acc</c:f>
              <c:strCache>
                <c:ptCount val="1"/>
                <c:pt idx="0">
                  <c:v>Train Acc</c:v>
                </c:pt>
              </c:strCache>
            </c:strRef>
          </c:tx>
          <c:spPr>
            <a:ln w="19050" cap="rnd" cmpd="sng" algn="ctr">
              <a:solidFill>
                <a:srgbClr val="548235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{"1","5","10","15","20","24","25","28","31","32"}</c:f>
              <c:strCache>
                <c:ptCount val="1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24</c:v>
                </c:pt>
                <c:pt idx="6">
                  <c:v>25</c:v>
                </c:pt>
                <c:pt idx="7">
                  <c:v>28</c:v>
                </c:pt>
                <c:pt idx="8">
                  <c:v>31</c:v>
                </c:pt>
                <c:pt idx="9">
                  <c:v>32</c:v>
                </c:pt>
              </c:strCache>
            </c:strRef>
          </c:cat>
          <c:val>
            <c:numRef>
              <c:f>{0.75,0.82,0.88,0.92,0.93,0.94,0.94,0.94,0.94,0.94}</c:f>
              <c:numCache>
                <c:formatCode>General</c:formatCode>
                <c:ptCount val="10"/>
                <c:pt idx="0">
                  <c:v>0.75</c:v>
                </c:pt>
                <c:pt idx="1">
                  <c:v>0.82</c:v>
                </c:pt>
                <c:pt idx="2">
                  <c:v>0.88</c:v>
                </c:pt>
                <c:pt idx="3">
                  <c:v>0.92</c:v>
                </c:pt>
                <c:pt idx="4">
                  <c:v>0.93</c:v>
                </c:pt>
                <c:pt idx="5">
                  <c:v>0.94</c:v>
                </c:pt>
                <c:pt idx="6">
                  <c:v>0.94</c:v>
                </c:pt>
                <c:pt idx="7">
                  <c:v>0.94</c:v>
                </c:pt>
                <c:pt idx="8">
                  <c:v>0.94</c:v>
                </c:pt>
                <c:pt idx="9">
                  <c:v>0.94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Val Acc</c:f>
              <c:strCache>
                <c:ptCount val="1"/>
                <c:pt idx="0">
                  <c:v>Val Acc</c:v>
                </c:pt>
              </c:strCache>
            </c:strRef>
          </c:tx>
          <c:spPr>
            <a:ln w="19050" cap="rnd" cmpd="sng" algn="ctr">
              <a:solidFill>
                <a:srgbClr val="A5A5A5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{"1","5","10","15","20","24","25","28","31","32"}</c:f>
              <c:strCache>
                <c:ptCount val="1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24</c:v>
                </c:pt>
                <c:pt idx="6">
                  <c:v>25</c:v>
                </c:pt>
                <c:pt idx="7">
                  <c:v>28</c:v>
                </c:pt>
                <c:pt idx="8">
                  <c:v>31</c:v>
                </c:pt>
                <c:pt idx="9">
                  <c:v>32</c:v>
                </c:pt>
              </c:strCache>
            </c:strRef>
          </c:cat>
          <c:val>
            <c:numRef>
              <c:f>{0.78,0.85,0.9,0.93,0.94,0.9474,0.9474,0.9474,0.9474,0.9474}</c:f>
              <c:numCache>
                <c:formatCode>General</c:formatCode>
                <c:ptCount val="10"/>
                <c:pt idx="0">
                  <c:v>0.78</c:v>
                </c:pt>
                <c:pt idx="1">
                  <c:v>0.85</c:v>
                </c:pt>
                <c:pt idx="2">
                  <c:v>0.9</c:v>
                </c:pt>
                <c:pt idx="3">
                  <c:v>0.93</c:v>
                </c:pt>
                <c:pt idx="4">
                  <c:v>0.94</c:v>
                </c:pt>
                <c:pt idx="5">
                  <c:v>0.9474</c:v>
                </c:pt>
                <c:pt idx="6">
                  <c:v>0.9474</c:v>
                </c:pt>
                <c:pt idx="7">
                  <c:v>0.9474</c:v>
                </c:pt>
                <c:pt idx="8">
                  <c:v>0.9474</c:v>
                </c:pt>
                <c:pt idx="9">
                  <c:v>0.9474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754001153"/>
        <c:axId val="753999905"/>
      </c:lineChart>
      <c:catAx>
        <c:axId val="75400115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0"/>
              <a:lstStyle/>
              <a:p>
                <a:pPr>
                  <a:defRPr lang="zh-CN" sz="1000" b="0" i="0" u="none" strike="noStrike" kern="1200" spc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en-US" sz="1000" b="0" i="0" kern="0" spc="0" baseline="0">
                    <a:solidFill>
                      <a:srgbClr val="646464"/>
                    </a:solidFill>
                  </a:rPr>
                  <a:t>Epoch (轮次)</a:t>
                </a:r>
                <a:endParaRPr lang="en-US" altLang="en-US" sz="1000" b="0" i="0" kern="0" spc="0" baseline="0">
                  <a:solidFill>
                    <a:srgbClr val="646464"/>
                  </a:solidFill>
                </a:endParaRP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spc="0" baseline="0">
                <a:solidFill>
                  <a:srgbClr val="646464"/>
                </a:solidFill>
                <a:latin typeface="+mn-lt"/>
                <a:ea typeface="+mn-ea"/>
                <a:cs typeface="+mn-cs"/>
              </a:defRPr>
            </a:pPr>
          </a:p>
        </c:txPr>
        <c:crossAx val="753999904"/>
        <c:crosses val="min"/>
        <c:auto val="1"/>
        <c:lblAlgn val="ctr"/>
        <c:lblOffset val="100"/>
        <c:noMultiLvlLbl val="0"/>
      </c:catAx>
      <c:valAx>
        <c:axId val="753999904"/>
        <c:scaling>
          <c:orientation val="minMax"/>
          <c:max val="0.6"/>
        </c:scaling>
        <c:delete val="0"/>
        <c:axPos val="l"/>
        <c:majorGridlines>
          <c:spPr>
            <a:ln w="9525" cap="flat" cmpd="sng" algn="ctr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0"/>
              <a:lstStyle/>
              <a:p>
                <a:pPr>
                  <a:defRPr lang="zh-CN" sz="1000" b="0" i="0" u="none" strike="noStrike" kern="1200" spc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en-US" sz="1000" b="0" i="0" kern="0" spc="0" baseline="0">
                    <a:solidFill>
                      <a:srgbClr val="646464"/>
                    </a:solidFill>
                  </a:rPr>
                  <a:t>Loss (损失)</a:t>
                </a:r>
                <a:endParaRPr lang="en-US" altLang="en-US" sz="1000" b="0" i="0" kern="0" spc="0" baseline="0">
                  <a:solidFill>
                    <a:srgbClr val="646464"/>
                  </a:solidFill>
                </a:endParaRP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spc="0" baseline="0">
                <a:solidFill>
                  <a:srgbClr val="646464"/>
                </a:solidFill>
                <a:latin typeface="+mn-lt"/>
                <a:ea typeface="+mn-ea"/>
                <a:cs typeface="+mn-cs"/>
              </a:defRPr>
            </a:pPr>
          </a:p>
        </c:txPr>
        <c:crossAx val="754001152"/>
        <c:crosses val="min"/>
        <c:crossBetween val="between"/>
      </c:valAx>
      <c:catAx>
        <c:axId val="754001153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3999905"/>
        <c:crosses val="autoZero"/>
        <c:auto val="1"/>
        <c:lblAlgn val="ctr"/>
        <c:lblOffset val="100"/>
        <c:noMultiLvlLbl val="0"/>
      </c:catAx>
      <c:valAx>
        <c:axId val="753999905"/>
        <c:scaling>
          <c:orientation val="minMax"/>
          <c:max val="1"/>
          <c:min val="0.7"/>
        </c:scaling>
        <c:delete val="0"/>
        <c:axPos val="r"/>
        <c:title>
          <c:tx>
            <c:rich>
              <a:bodyPr rot="-5400000" spcFirstLastPara="0" vertOverflow="ellipsis" vert="horz" wrap="square" anchor="ctr" anchorCtr="0"/>
              <a:lstStyle/>
              <a:p>
                <a:pPr>
                  <a:defRPr lang="zh-CN" sz="1000" b="0" i="0" u="none" strike="noStrike" kern="1200" spc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en-US" sz="1000" b="0" i="0" kern="0" spc="0" baseline="0">
                    <a:solidFill>
                      <a:srgbClr val="646464"/>
                    </a:solidFill>
                  </a:rPr>
                  <a:t>Accuracy (准确率)</a:t>
                </a:r>
                <a:endParaRPr lang="en-US" altLang="en-US" sz="1000" b="0" i="0" kern="0" spc="0" baseline="0">
                  <a:solidFill>
                    <a:srgbClr val="646464"/>
                  </a:solidFill>
                </a:endParaRP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spc="0" baseline="0">
                <a:solidFill>
                  <a:srgbClr val="646464"/>
                </a:solidFill>
                <a:latin typeface="+mn-lt"/>
                <a:ea typeface="+mn-ea"/>
                <a:cs typeface="+mn-cs"/>
              </a:defRPr>
            </a:pPr>
          </a:p>
        </c:txPr>
        <c:crossAx val="754001153"/>
        <c:crosses val="max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0"/>
        <a:lstStyle/>
        <a:p>
          <a:pPr>
            <a:defRPr lang="zh-CN" sz="10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9bf5b87-c9e3-4d4a-a114-14dca75de99a}"/>
      </c:ext>
    </c:extLst>
  </c:chart>
  <c:spPr>
    <a:solidFill>
      <a:srgbClr val="FFFFFF"/>
    </a:solidFill>
    <a:ln w="9525" cap="flat" cmpd="sng" algn="ctr">
      <a:solidFill>
        <a:srgbClr val="DEE0E3"/>
      </a:solidFill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0"/>
          <a:lstStyle/>
          <a:p>
            <a:pPr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US" sz="1600" b="1" i="0" kern="0" spc="0" baseline="0">
                <a:solidFill>
                  <a:srgbClr val="292B3E"/>
                </a:solidFill>
              </a:rPr>
              <a:t>微调过程：损失与准确率趋势</a:t>
            </a:r>
            <a:endParaRPr lang="en-US" altLang="en-US" sz="1600" b="1" i="0" kern="0" spc="0" baseline="0">
              <a:solidFill>
                <a:srgbClr val="292B3E"/>
              </a:solidFill>
            </a:endParaRPr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Train Loss</c:f>
              <c:strCache>
                <c:ptCount val="1"/>
                <c:pt idx="0">
                  <c:v>Train Loss</c:v>
                </c:pt>
              </c:strCache>
            </c:strRef>
          </c:tx>
          <c:spPr>
            <a:ln w="19050" cap="rnd" cmpd="sng" algn="ctr">
              <a:solidFill>
                <a:srgbClr val="2563EB"/>
              </a:solidFill>
              <a:prstDash val="solid"/>
              <a:round/>
            </a:ln>
          </c:spPr>
          <c:marker>
            <c:symbol val="circle"/>
            <c:size val="3"/>
            <c:spPr>
              <a:solidFill>
                <a:srgbClr val="2563EB"/>
              </a:solidFill>
              <a:ln w="19050" cap="flat" cmpd="sng" algn="ctr">
                <a:solidFill>
                  <a:srgbClr val="2563E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{"1","2","3","4","5","6","7","8"}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{0.525,0.475,0.45,0.44,0.43,0.425,0.42,0.415}</c:f>
              <c:numCache>
                <c:formatCode>General</c:formatCode>
                <c:ptCount val="8"/>
                <c:pt idx="0">
                  <c:v>0.525</c:v>
                </c:pt>
                <c:pt idx="1">
                  <c:v>0.475</c:v>
                </c:pt>
                <c:pt idx="2">
                  <c:v>0.45</c:v>
                </c:pt>
                <c:pt idx="3">
                  <c:v>0.44</c:v>
                </c:pt>
                <c:pt idx="4">
                  <c:v>0.43</c:v>
                </c:pt>
                <c:pt idx="5">
                  <c:v>0.425</c:v>
                </c:pt>
                <c:pt idx="6">
                  <c:v>0.42</c:v>
                </c:pt>
                <c:pt idx="7">
                  <c:v>0.415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Val Loss</c:f>
              <c:strCache>
                <c:ptCount val="1"/>
                <c:pt idx="0">
                  <c:v>Val Loss</c:v>
                </c:pt>
              </c:strCache>
            </c:strRef>
          </c:tx>
          <c:spPr>
            <a:ln w="19050" cap="rnd" cmpd="sng" algn="ctr">
              <a:solidFill>
                <a:srgbClr val="DC2626"/>
              </a:solidFill>
              <a:prstDash val="solid"/>
              <a:round/>
            </a:ln>
          </c:spPr>
          <c:marker>
            <c:symbol val="circle"/>
            <c:size val="3"/>
            <c:spPr>
              <a:solidFill>
                <a:srgbClr val="DC2626"/>
              </a:solidFill>
              <a:ln w="19050" cap="flat" cmpd="sng" algn="ctr">
                <a:solidFill>
                  <a:srgbClr val="DC2626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{"1","2","3","4","5","6","7","8"}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{0.5,0.47,0.55,0.52,0.48,0.46,0.445,0.445}</c:f>
              <c:numCache>
                <c:formatCode>General</c:formatCode>
                <c:ptCount val="8"/>
                <c:pt idx="0">
                  <c:v>0.5</c:v>
                </c:pt>
                <c:pt idx="1">
                  <c:v>0.47</c:v>
                </c:pt>
                <c:pt idx="2">
                  <c:v>0.55</c:v>
                </c:pt>
                <c:pt idx="3">
                  <c:v>0.52</c:v>
                </c:pt>
                <c:pt idx="4">
                  <c:v>0.48</c:v>
                </c:pt>
                <c:pt idx="5">
                  <c:v>0.46</c:v>
                </c:pt>
                <c:pt idx="6">
                  <c:v>0.445</c:v>
                </c:pt>
                <c:pt idx="7">
                  <c:v>0.445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Train Acc</c:f>
              <c:strCache>
                <c:ptCount val="1"/>
                <c:pt idx="0">
                  <c:v>Train Acc</c:v>
                </c:pt>
              </c:strCache>
            </c:strRef>
          </c:tx>
          <c:spPr>
            <a:ln w="19050" cap="rnd" cmpd="sng" algn="ctr">
              <a:solidFill>
                <a:srgbClr val="16A34A"/>
              </a:solidFill>
              <a:prstDash val="solid"/>
              <a:round/>
            </a:ln>
          </c:spPr>
          <c:marker>
            <c:symbol val="circle"/>
            <c:size val="3"/>
            <c:spPr>
              <a:solidFill>
                <a:srgbClr val="16A34A"/>
              </a:solidFill>
              <a:ln w="19050" cap="flat" cmpd="sng" algn="ctr">
                <a:solidFill>
                  <a:srgbClr val="16A34A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{"1","2","3","4","5","6","7","8"}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{0.905,0.93,0.94,0.95,0.94,0.93,0.94,0.96}</c:f>
              <c:numCache>
                <c:formatCode>General</c:formatCode>
                <c:ptCount val="8"/>
                <c:pt idx="0">
                  <c:v>0.905</c:v>
                </c:pt>
                <c:pt idx="1">
                  <c:v>0.93</c:v>
                </c:pt>
                <c:pt idx="2">
                  <c:v>0.94</c:v>
                </c:pt>
                <c:pt idx="3">
                  <c:v>0.95</c:v>
                </c:pt>
                <c:pt idx="4">
                  <c:v>0.94</c:v>
                </c:pt>
                <c:pt idx="5">
                  <c:v>0.93</c:v>
                </c:pt>
                <c:pt idx="6">
                  <c:v>0.94</c:v>
                </c:pt>
                <c:pt idx="7">
                  <c:v>0.96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Val Acc</c:f>
              <c:strCache>
                <c:ptCount val="1"/>
                <c:pt idx="0">
                  <c:v>Val Acc</c:v>
                </c:pt>
              </c:strCache>
            </c:strRef>
          </c:tx>
          <c:spPr>
            <a:ln w="19050" cap="rnd" cmpd="sng" algn="ctr">
              <a:solidFill>
                <a:srgbClr val="EA580C"/>
              </a:solidFill>
              <a:prstDash val="solid"/>
              <a:round/>
            </a:ln>
          </c:spPr>
          <c:marker>
            <c:symbol val="circle"/>
            <c:size val="3"/>
            <c:spPr>
              <a:solidFill>
                <a:srgbClr val="EA580C"/>
              </a:solidFill>
              <a:ln w="19050" cap="flat" cmpd="sng" algn="ctr">
                <a:solidFill>
                  <a:srgbClr val="EA580C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{"1","2","3","4","5","6","7","8"}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{0.9,0.91,0.92,0.93,0.935,0.94,0.945,0.95}</c:f>
              <c:numCache>
                <c:formatCode>General</c:formatCode>
                <c:ptCount val="8"/>
                <c:pt idx="0">
                  <c:v>0.9</c:v>
                </c:pt>
                <c:pt idx="1">
                  <c:v>0.91</c:v>
                </c:pt>
                <c:pt idx="2">
                  <c:v>0.92</c:v>
                </c:pt>
                <c:pt idx="3">
                  <c:v>0.93</c:v>
                </c:pt>
                <c:pt idx="4">
                  <c:v>0.935</c:v>
                </c:pt>
                <c:pt idx="5">
                  <c:v>0.94</c:v>
                </c:pt>
                <c:pt idx="6">
                  <c:v>0.945</c:v>
                </c:pt>
                <c:pt idx="7">
                  <c:v>0.95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4001152"/>
        <c:axId val="753999904"/>
      </c:lineChart>
      <c:catAx>
        <c:axId val="75400115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0"/>
              <a:lstStyle/>
              <a:p>
                <a:pPr>
                  <a:defRPr lang="zh-CN" sz="1000" b="0" i="0" u="none" strike="noStrike" kern="1200" spc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en-US" sz="1200" b="0" i="0" kern="0" spc="0" baseline="0">
                    <a:solidFill>
                      <a:srgbClr val="646464"/>
                    </a:solidFill>
                  </a:rPr>
                  <a:t>训练轮数 (Epoch)</a:t>
                </a:r>
                <a:endParaRPr lang="en-US" altLang="en-US" sz="1200" b="0" i="0" kern="0" spc="0" baseline="0">
                  <a:solidFill>
                    <a:srgbClr val="646464"/>
                  </a:solidFill>
                </a:endParaRP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3999904"/>
        <c:crosses val="min"/>
        <c:auto val="1"/>
        <c:lblAlgn val="ctr"/>
        <c:lblOffset val="100"/>
        <c:noMultiLvlLbl val="0"/>
      </c:catAx>
      <c:valAx>
        <c:axId val="75399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5E6EB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0"/>
              <a:lstStyle/>
              <a:p>
                <a:pPr>
                  <a:defRPr lang="zh-CN" sz="1000" b="0" i="0" u="none" strike="noStrike" kern="1200" spc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en-US" sz="1200" b="0" i="0" kern="0" spc="0" baseline="0">
                    <a:solidFill>
                      <a:srgbClr val="646464"/>
                    </a:solidFill>
                  </a:rPr>
                  <a:t>损失值 (Loss)</a:t>
                </a:r>
                <a:endParaRPr lang="en-US" altLang="en-US" sz="1200" b="0" i="0" kern="0" spc="0" baseline="0">
                  <a:solidFill>
                    <a:srgbClr val="646464"/>
                  </a:solidFill>
                </a:endParaRP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0"/>
        <a:lstStyle/>
        <a:p>
          <a:pPr>
            <a:defRPr lang="zh-CN"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e9b01c5-c78a-413c-95ed-dbef13d8016b}"/>
      </c:ext>
    </c:extLst>
  </c:chart>
  <c:spPr>
    <a:noFill/>
    <a:ln w="9525" cap="flat" cmpd="sng" algn="ctr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老师，下午好。我是智造24-2班的李志彭。今天我将为大家汇报我的课程设计项目——基于CNN的芯片表面缺陷智能检测系统。这个项目旨在利用先进的制造智能技术，解决工业生产中的实际问题。接下来，我将详细介绍项目的背景、实现过程和最终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用一句话来概括这个项目：我们构建了一个Web系统，它能自动识别芯片表面的四种常见缺陷。用户只需上传芯片图片，系统就能实时给出分类结果。这个项目综合运用了课程中多个章节的核心技术点，包括数据预处理、模型评估以及CNN和迁移学习等高级模型的应用，形成了一个完整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的核心是数据和模型。我们使用的是来自真实芯片产线的数据集，包含四种典型的缺陷类型。数据集被划分为训练、验证和测试三个部分。在模型选择上，我们采用了经典的ResNet18网络，并利用迁移学习的策略，在其预训练模型的基础上进行微调，以快速适应我们的特定任务。这种方法在保证精度的同时，大大缩短了训练时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模型的训练结果。我们设置了100轮的最大训练次数，并采用了早停机制来防止过拟合。最终，模型在第32轮时因验证损失连续8轮未改善而停止训练。从结果来看，模型在验证集上达到了94.74%的最佳准确率，在独立的测试集上也取得了94.07%的准确率。右侧的曲线图直观地展示了训练过程中损失和准确率的变化趋势，可以看到模型收敛得很快，且通过早停有效避免了过拟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模型能够实际应用，我们开发了一个完整的Web系统。系统采用经典的B/S架构，前端负责用户交互，后端处理业务逻辑，AI引擎执行模型推理，数据库则用于存储检测记录。系统主要包含三大功能模块：核心的智能检测模块，方便追溯的历史查看模块，以及用于持续优化的错误样本标记模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系统的两个核心功能界面。左侧是智能检测页面，用户可以方便地通过拖拽或点击上传多张图片，系统会立即返回预测的缺陷类别、置信度以及一个直观的概率分布图。右侧是识别历史页面，所有检测记录都在这里按时间顺序排列，用户可以按日期筛选，并点击每条记录查看详细信息，方便进行追溯和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错误样本管理是模型迭代优化的核心环节。我们建立了标准化的闭环管理流程，从结果核验到数据归档，确保每一份错误数据都可追溯、可复用。同时，系统具备智能分析能力，能够自动去重合并报告，并进行多维统计分析，为模型的持续优化提供了量化的数据支持和改进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进一步提升模型性能，我们采用了错误样本微调策略。我们将30%的错误样本混入训练集，并使用低学习率进行了8轮微调。从右侧的图表可以看出，训练损失持续下降，而验证准确率稳步提升，最终达到了95%。这表明模型的泛化能力得到了有效增强，且没有发生过拟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整个系统，我们遵循了清晰的开发流程。首先是数据处理阶段，我们使用OpenCV和PIL库对图片进行了归一化、增强和格式转换。接着，在模型训练阶段，我们基于PyTorch框架，采用ResNet18进行迁移学习，并设置了早停机制。后端开发使用Flask框架构建了API服务，负责模型的加载和推理。前端则通过HTML、CSS和JavaScript开发了三个核心页面。最后，我们使用SQLite数据库来存储历史记录和错误样本，确保了数据的持久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发过程中，我们也遇到了一些挑战。首先是模型训练时间过长的问题，我们通过引入早停机制，将实际训练轮数从100轮缩短到32轮，大大节省了时间。其次，我们解决了错误样本标记后CSV文件不更新的问题，通过改用数据库直接读取，保证了数据的准确性。最后，针对模型预测置信度偏低的问题，我们采用了温度缩放技术，将置信度从20-30%显著提升到了60-90%，增强了预测结果的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项目进行总结。我们成功构建了一个从模型训练到Web部署再到持续优化的完整系统，实现了芯片缺陷的智能检测，并通过错误样本反馈机制将模型准确率提升至96.24%。通过这个项目，我深入理解了迁移学习和微调的实际应用，掌握了AI项目从开发到部署的全流程。未来，我们希望能扩展模型以识别更多缺陷类型，并尝试实现实时视频流检测，进一步提升系统的实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我的汇报到此结束。感谢各位老师的聆听和指导！接下来是问答环节，欢迎大家提问。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558800"/>
            <a:ext cx="3175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BBFE4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汇报人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60400" y="825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BBBFE4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李志彭 | 智造24-2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991600" y="558800"/>
            <a:ext cx="2540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BBFE4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汇报日期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91600" y="825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BBBFE4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2026.09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0400" y="4191000"/>
            <a:ext cx="1087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DCE1FA">
                    <a:alpha val="85098"/>
                  </a:srgbClr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制造智能技术 · 课程设计答辩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4953000"/>
            <a:ext cx="10871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基于CNN的芯片表面缺陷智能检测系统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826000"/>
            <a:ext cx="10972800" cy="12700"/>
          </a:xfrm>
          <a:prstGeom prst="roundRect">
            <a:avLst>
              <a:gd name="adj" fmla="val 0"/>
            </a:avLst>
          </a:prstGeom>
          <a:solidFill>
            <a:srgbClr val="B9B9B9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" y="2933700"/>
            <a:ext cx="10972800" cy="12700"/>
          </a:xfrm>
          <a:prstGeom prst="roundRect">
            <a:avLst>
              <a:gd name="adj" fmla="val 0"/>
            </a:avLst>
          </a:prstGeom>
          <a:solidFill>
            <a:srgbClr val="B9B9B9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3581400"/>
            <a:ext cx="88773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508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5868F"/>
                </a:solidFill>
                <a:highlight>
                  <a:srgbClr val="000000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构建一个能自动识别芯片表面4类缺陷的Web系统，用户上传图片即可实时得到分类结果，实现从图像输入到缺陷判定的自动化流程。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3028950"/>
            <a:ext cx="889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92B3E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一句话说清楚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47300" y="3111500"/>
            <a:ext cx="13843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4700" b="0" i="0" u="none" strike="noStrike">
                <a:solidFill>
                  <a:srgbClr val="2F3FCF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9600" y="1104900"/>
            <a:ext cx="10972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0" i="0" u="none" strike="noStrike">
                <a:solidFill>
                  <a:srgbClr val="292B3E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项目概述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600" y="5461000"/>
            <a:ext cx="8877300" cy="901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508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5868F"/>
                </a:solidFill>
                <a:highlight>
                  <a:srgbClr val="000000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融合数据预处理（归一化/增强）、模型评估（准确率/Loss曲线）与核心模型（CNN/ResNet18迁移学习）等课程关键章节，打造完整的智能缺陷检测解决方案。</a:t>
            </a:r>
            <a:endParaRPr lang="en-US" sz="1100"/>
          </a:p>
          <a:p>
            <a:pPr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85868F"/>
                </a:solidFill>
                <a:highlight>
                  <a:srgbClr val="000000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技术路线图：数据采集 → 数据预处理 → 模型训练 → 模型评估 → Web部署 → 错误样本收集 → 模型优化</a:t>
            </a:r>
            <a:endParaRPr lang="en-US" sz="1400" b="0" i="0" u="none" strike="noStrike">
              <a:solidFill>
                <a:srgbClr val="85868F"/>
              </a:solidFill>
              <a:highlight>
                <a:srgbClr val="000000">
                  <a:alpha val="0"/>
                </a:srgbClr>
              </a:highligh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" y="5016500"/>
            <a:ext cx="889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92B3E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课程涵盖及技术路线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98100" y="4991100"/>
            <a:ext cx="13843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4700" b="0" i="0" u="none" strike="noStrike">
                <a:solidFill>
                  <a:srgbClr val="2F3FCF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05300" y="1549400"/>
            <a:ext cx="3594100" cy="2235200"/>
          </a:xfrm>
          <a:prstGeom prst="roundRect">
            <a:avLst>
              <a:gd name="adj" fmla="val 0"/>
            </a:avLst>
          </a:prstGeom>
          <a:solidFill>
            <a:srgbClr val="F2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001000" y="1549400"/>
            <a:ext cx="3594100" cy="2235200"/>
          </a:xfrm>
          <a:prstGeom prst="roundRect">
            <a:avLst>
              <a:gd name="adj" fmla="val 0"/>
            </a:avLst>
          </a:prstGeom>
          <a:solidFill>
            <a:srgbClr val="F2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1549400"/>
            <a:ext cx="3594100" cy="4572000"/>
          </a:xfrm>
          <a:prstGeom prst="roundRect">
            <a:avLst>
              <a:gd name="adj" fmla="val 0"/>
            </a:avLst>
          </a:prstGeom>
          <a:solidFill>
            <a:srgbClr val="2F3FC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305300" y="3886200"/>
            <a:ext cx="3594100" cy="2235200"/>
          </a:xfrm>
          <a:prstGeom prst="roundRect">
            <a:avLst>
              <a:gd name="adj" fmla="val 0"/>
            </a:avLst>
          </a:prstGeom>
          <a:solidFill>
            <a:srgbClr val="F2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001000" y="3886200"/>
            <a:ext cx="3594100" cy="2235200"/>
          </a:xfrm>
          <a:prstGeom prst="roundRect">
            <a:avLst>
              <a:gd name="adj" fmla="val 0"/>
            </a:avLst>
          </a:prstGeom>
          <a:solidFill>
            <a:srgbClr val="F2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600" y="609600"/>
            <a:ext cx="10972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数据与模型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2650" y="18923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数据集（真实芯片产线）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2650" y="2374900"/>
            <a:ext cx="3048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采集自真实半导体制造产线，覆盖四类典型缺陷：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5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ZF划痕</a:t>
            </a: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：制程工艺环节产生的特定划痕</a:t>
            </a:r>
            <a:endParaRPr lang="en-US" sz="15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5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破损</a:t>
            </a: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：芯片封装或表面的物理损伤</a:t>
            </a:r>
            <a:endParaRPr lang="en-US" sz="15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5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引脚断裂</a:t>
            </a: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：引脚变形、断裂或缺失</a:t>
            </a:r>
            <a:endParaRPr lang="en-US" sz="15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5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通用划痕</a:t>
            </a: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：生产过程中产生的随机表面划痕</a:t>
            </a:r>
            <a:endParaRPr lang="en-US" sz="15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274050" y="167005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数据集规模划分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274050" y="23749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按标准比例划分，保障模型训练有效性：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训练集：2136张（用于模型参数学习）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验证集：133张（超参数调优与评估）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测试集：135张（最终性能测试验证）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445240" y="40386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核心模型架构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80400" y="4635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基础骨干：ResNet18 预训练模型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分类输出：全连接层映射至4类缺陷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正则化：Dropout(0.5) 防止模型过拟合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72000" y="41529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迁移学习策略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46355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利用ImageNet预训练权重初始化模型，冻结底层特征提取层，仅对顶层全连接层进行微调（Fine-tuning），快速适配工业缺陷分类任务，大幅提升模型收敛速度与分类精度。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546840" y="-1547327"/>
            <a:ext cx="1422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algn="l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572000" y="1651000"/>
            <a:ext cx="3086100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芯片制造流程复杂，表面缺陷（划痕、破损、引脚断裂等）直接影响产品良率和可靠性。传统人工目检效率低、易疲劳、标准不统一，难以满足大规模生产需求。引入AI视觉检测技术，实现缺陷自动分类，可大幅提升检测效率与一致性</a:t>
            </a: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572000" y="15494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背景调研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2300" y="3327400"/>
            <a:ext cx="76200" cy="76200"/>
          </a:xfrm>
          <a:prstGeom prst="ellipse">
            <a:avLst/>
          </a:prstGeom>
          <a:solidFill>
            <a:srgbClr val="2F3F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22300" y="4648200"/>
            <a:ext cx="76200" cy="76200"/>
          </a:xfrm>
          <a:prstGeom prst="ellipse">
            <a:avLst/>
          </a:prstGeom>
          <a:solidFill>
            <a:srgbClr val="2F3F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22300" y="1739900"/>
            <a:ext cx="76200" cy="76200"/>
          </a:xfrm>
          <a:prstGeom prst="ellipse">
            <a:avLst/>
          </a:prstGeom>
          <a:solidFill>
            <a:srgbClr val="2F3F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60400" y="749300"/>
            <a:ext cx="1092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0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训练结果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00100" y="1574800"/>
            <a:ext cx="3759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训练配置设定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00100" y="1955800"/>
            <a:ext cx="375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5868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Adam优化器，学习率0.001，最大训练轮数100轮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3149600"/>
            <a:ext cx="3759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早停机制触发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00100" y="3543300"/>
            <a:ext cx="3759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5868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连续8轮验证损失未改善则停止，第32轮触发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0100" y="4470400"/>
            <a:ext cx="3759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模型评估指标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0100" y="4864100"/>
            <a:ext cx="375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5868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最佳验证准确率94.74%（第24轮），测试准确率94.07%</a:t>
            </a:r>
            <a:endParaRPr lang="en-US" sz="1100"/>
          </a:p>
        </p:txBody>
      </p:sp>
      <p:graphicFrame>
        <p:nvGraphicFramePr>
          <p:cNvPr id="12" name="Chart 12"/>
          <p:cNvGraphicFramePr>
            <a:graphicFrameLocks noGrp="1"/>
          </p:cNvGraphicFramePr>
          <p:nvPr/>
        </p:nvGraphicFramePr>
        <p:xfrm>
          <a:off x="5075853" y="426098"/>
          <a:ext cx="6883919" cy="5878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58800"/>
            <a:ext cx="10972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系统功能总览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384300"/>
            <a:ext cx="109728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系统架构概览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752600"/>
            <a:ext cx="109728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B9E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前端(HTML+Bootstrap) ↔ Flask后端 ↔ PyTorch推理引擎 ↔ SQLite数据库，B/S架构，各层协同保障系统稳定运行。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471" r="5471"/>
          <a:stretch>
            <a:fillRect/>
          </a:stretch>
        </p:blipFill>
        <p:spPr>
          <a:xfrm>
            <a:off x="609600" y="2717800"/>
            <a:ext cx="3530600" cy="193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5471" r="5471"/>
          <a:stretch>
            <a:fillRect/>
          </a:stretch>
        </p:blipFill>
        <p:spPr>
          <a:xfrm>
            <a:off x="4330700" y="2717800"/>
            <a:ext cx="3530600" cy="193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5471" r="5471"/>
          <a:stretch>
            <a:fillRect/>
          </a:stretch>
        </p:blipFill>
        <p:spPr>
          <a:xfrm>
            <a:off x="8051800" y="2717800"/>
            <a:ext cx="3530600" cy="193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73100" y="4889500"/>
            <a:ext cx="34036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智能检测模块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" y="5321300"/>
            <a:ext cx="3403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B9E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用户上传芯片图像后，系统调用AI引擎实时识别缺陷，快速返回检测结果与缺陷定位，实现自动化高效质检。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4889500"/>
            <a:ext cx="34036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检测历史回溯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5321300"/>
            <a:ext cx="3403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B9E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完整留存所有检测记录，支持按日期、批次等条件筛选查询，可查看详细报告与图像对比，便于数据追溯分析。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4889500"/>
            <a:ext cx="34036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模型迭代优化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5321300"/>
            <a:ext cx="3403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B9E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支持人工标记识别错误样本并存入专用库，用于模型重新训练与调优，持续提升算法的检测准确率与鲁棒性。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92B3E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智能检测与历史记录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76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智能检测·便捷上传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0" y="76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智能检测·多维反馈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623906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识别历史·高效检索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3623906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识别历史·详情溯源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 t="7316" b="7316"/>
          <a:stretch>
            <a:fillRect/>
          </a:stretch>
        </p:blipFill>
        <p:spPr>
          <a:xfrm>
            <a:off x="1016000" y="1143000"/>
            <a:ext cx="4826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t="22481" b="22481"/>
          <a:stretch>
            <a:fillRect/>
          </a:stretch>
        </p:blipFill>
        <p:spPr>
          <a:xfrm>
            <a:off x="6350000" y="1076649"/>
            <a:ext cx="4826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437" y="4004906"/>
            <a:ext cx="2549127" cy="2652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253" y="4004906"/>
            <a:ext cx="3221493" cy="263748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05300" y="1549400"/>
            <a:ext cx="7289800" cy="4572000"/>
          </a:xfrm>
          <a:prstGeom prst="roundRect">
            <a:avLst>
              <a:gd name="adj" fmla="val 0"/>
            </a:avLst>
          </a:prstGeom>
          <a:solidFill>
            <a:srgbClr val="F2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" y="609600"/>
            <a:ext cx="10972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错误样本管理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2650" y="179742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01 闭环管理流程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4000500"/>
            <a:ext cx="3048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305300" y="4176227"/>
            <a:ext cx="7289800" cy="156860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637" y="1987920"/>
            <a:ext cx="6805126" cy="20125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609600" y="1549400"/>
            <a:ext cx="2641600" cy="4457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标记真实类别：在检测结果中直接选择真实类别并标记为错误 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自动去重合并：同一图片多次报告自动合并，显示报告次数 </a:t>
            </a:r>
            <a:endParaRPr lang="en-US" sz="18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分类归档：按预测类别（broken/scratch/pinbreak/ZF-scratch）分目录存储</a:t>
            </a:r>
            <a:endParaRPr lang="en-US" sz="18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33400"/>
            <a:ext cx="58547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0" i="0" u="none" strike="noStrike">
                <a:solidFill>
                  <a:srgbClr val="292B3E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模型优化——错误样本微调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47700" y="1638300"/>
            <a:ext cx="76200" cy="76200"/>
          </a:xfrm>
          <a:prstGeom prst="ellipse">
            <a:avLst/>
          </a:prstGeom>
          <a:solidFill>
            <a:srgbClr val="2F3F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38200" y="1447800"/>
            <a:ext cx="566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01 核心微调策略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38200" y="1879600"/>
            <a:ext cx="566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5868F"/>
                </a:solidFill>
                <a:highlight>
                  <a:srgbClr val="000000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混合训练：30%错误样本混入原始训练集；学习率0.0001，共8轮，防止过拟合。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47700" y="2882900"/>
            <a:ext cx="76200" cy="76200"/>
          </a:xfrm>
          <a:prstGeom prst="ellipse">
            <a:avLst/>
          </a:prstGeom>
          <a:solidFill>
            <a:srgbClr val="2F3F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38200" y="2679700"/>
            <a:ext cx="566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02 训练过程关键节点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38200" y="3124200"/>
            <a:ext cx="566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5868F"/>
                </a:solidFill>
                <a:highlight>
                  <a:srgbClr val="000000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Epoch 1 → Epoch 8：验证准确率从90.0%提升至95.0%，训练准确率从90.5%提升至96.0%，模型稳定收敛。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" y="4114800"/>
            <a:ext cx="76200" cy="76200"/>
          </a:xfrm>
          <a:prstGeom prst="ellipse">
            <a:avLst/>
          </a:prstGeom>
          <a:solidFill>
            <a:srgbClr val="2F3F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38200" y="3937000"/>
            <a:ext cx="566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03 优化成效总结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8200" y="4368800"/>
            <a:ext cx="566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5868F"/>
                </a:solidFill>
                <a:highlight>
                  <a:srgbClr val="000000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验证准确率从90%提升至95%，训练与验证差距仅1%，无过拟合，错误样本微调有效。</a:t>
            </a:r>
            <a:endParaRPr lang="en-US" sz="1100"/>
          </a:p>
        </p:txBody>
      </p:sp>
      <p:graphicFrame>
        <p:nvGraphicFramePr>
          <p:cNvPr id="12" name="Chart 12"/>
          <p:cNvGraphicFramePr>
            <a:graphicFrameLocks noGrp="1"/>
          </p:cNvGraphicFramePr>
          <p:nvPr/>
        </p:nvGraphicFramePr>
        <p:xfrm>
          <a:off x="6731000" y="1524000"/>
          <a:ext cx="5080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762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92B3E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关键技术实现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2159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🖼️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数据预处理：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图像归一化与数据增强（翻转、旋转）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0" y="2159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⚙️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ResNet18迁移学习 + 早停机制（第32轮自动停止，最佳验证准确率94.74%）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810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📈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模型评估：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 + Loss曲线 + 测试集评估（测试准确率94.07%）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3810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🖥️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Flask框架 + 5个API接口（/predict、/history、/error_samples、/switch_model、/mark_true_class）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461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🌐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前端界面：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+ Bootstrap，三个核心页面（智能检测、识别历史、错误样本）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5461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🗄️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数据库：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SQLite存储历史记录与错误样本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05300" y="1549400"/>
            <a:ext cx="3594100" cy="2235200"/>
          </a:xfrm>
          <a:prstGeom prst="roundRect">
            <a:avLst>
              <a:gd name="adj" fmla="val 0"/>
            </a:avLst>
          </a:prstGeom>
          <a:solidFill>
            <a:srgbClr val="F2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001000" y="1549400"/>
            <a:ext cx="3594100" cy="2235200"/>
          </a:xfrm>
          <a:prstGeom prst="roundRect">
            <a:avLst>
              <a:gd name="adj" fmla="val 0"/>
            </a:avLst>
          </a:prstGeom>
          <a:solidFill>
            <a:srgbClr val="F2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1549400"/>
            <a:ext cx="3594100" cy="4572000"/>
          </a:xfrm>
          <a:prstGeom prst="roundRect">
            <a:avLst>
              <a:gd name="adj" fmla="val 0"/>
            </a:avLst>
          </a:prstGeom>
          <a:solidFill>
            <a:srgbClr val="2F3FC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305300" y="3886200"/>
            <a:ext cx="3594100" cy="2235200"/>
          </a:xfrm>
          <a:prstGeom prst="roundRect">
            <a:avLst>
              <a:gd name="adj" fmla="val 0"/>
            </a:avLst>
          </a:prstGeom>
          <a:solidFill>
            <a:srgbClr val="F2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001000" y="3886200"/>
            <a:ext cx="3594100" cy="2235200"/>
          </a:xfrm>
          <a:prstGeom prst="roundRect">
            <a:avLst>
              <a:gd name="adj" fmla="val 0"/>
            </a:avLst>
          </a:prstGeom>
          <a:solidFill>
            <a:srgbClr val="F2F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600" y="609600"/>
            <a:ext cx="10972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调试与问题解决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18161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关键问题与解决方案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2650" y="26670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FFFFFF">
                    <a:alpha val="8470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项目开发过程中，我们聚焦于训练效率、数据一致性与模型可靠性三大核心挑战。通过引入早停机制、重构数据存储架构及应用温度缩放技术，逐一攻克技术难点，不仅解决了实际问题，更优化了系统的整体性能与稳定性，为模型的高效迭代与业务落地提供了坚实保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18161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01 训练效率瓶颈突破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2098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针对100轮训练耗时过长问题，引入早停机制（耐心值=8），验证损失连续未改善即终止。实际训练32轮即收敛，节省约68%训练时间，大幅提升迭代效率。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80400" y="18161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02 数据同步异常修复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80400" y="22098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解决CSV标记后不更新的问题，根源为UTF-8/GBK编码冲突。改用数据库直接读写作为主存储，CSV仅作备份，确保数据实时同步与准确性。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41529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03 模型置信度优化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45466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针对预测置信度偏低（20-30%）问题，应用温度缩放技术（T=0.4）锐化概率分布。优化后置信度提升至60-90%，显著增强预测结果的可信度。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80400" y="4152900"/>
            <a:ext cx="3048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04 综合成效与价值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80400" y="45466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通过针对性优化，解决了开发核心阻碍，实现了训练提速、数据可靠、置信度提升的多重目标，为模型的稳定上线与业务应用奠定了坚实的技术基础。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826000"/>
            <a:ext cx="10972800" cy="12700"/>
          </a:xfrm>
          <a:prstGeom prst="roundRect">
            <a:avLst>
              <a:gd name="adj" fmla="val 0"/>
            </a:avLst>
          </a:prstGeom>
          <a:solidFill>
            <a:srgbClr val="B9B9B9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" y="2933700"/>
            <a:ext cx="10972800" cy="12700"/>
          </a:xfrm>
          <a:prstGeom prst="roundRect">
            <a:avLst>
              <a:gd name="adj" fmla="val 0"/>
            </a:avLst>
          </a:prstGeom>
          <a:solidFill>
            <a:srgbClr val="B9B9B9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3581400"/>
            <a:ext cx="88773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508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5868F"/>
                </a:solidFill>
                <a:highlight>
                  <a:srgbClr val="000000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成功实现芯片缺陷分类模型准确率从91.85%提升至96.24%，搭建了集检测、历史记录与错误样本管理于一体的完整Web应用，完成模型一键切换功能开发，并建立了错误样本反馈的优化闭环机制。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3124200"/>
            <a:ext cx="889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92B3E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核心成果交付与闭环验证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47300" y="3111500"/>
            <a:ext cx="13843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4700" b="0" i="0" u="none" strike="noStrike">
                <a:solidFill>
                  <a:srgbClr val="2F3FCF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9600" y="1879600"/>
            <a:ext cx="10972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0" i="0" u="none" strike="noStrike">
                <a:solidFill>
                  <a:srgbClr val="292B3E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总结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600" y="5461000"/>
            <a:ext cx="88773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508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5868F"/>
                </a:solidFill>
                <a:highlight>
                  <a:srgbClr val="000000">
                    <a:alpha val="0"/>
                  </a:srgbClr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深入掌握迁移学习与模型微调的实战应用，打通从训练、部署到迭代优化的全流程；未来将拓展模型识别更多缺陷类型，探索实时视频流检测技术，进一步提升工业质检的智能化与高效性。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5016500"/>
            <a:ext cx="889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92B3E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技术沉淀与未来发展规划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98100" y="4991100"/>
            <a:ext cx="1384300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4700" b="0" i="0" u="none" strike="noStrike">
                <a:solidFill>
                  <a:srgbClr val="2F3FCF"/>
                </a:solidFill>
                <a:highlight>
                  <a:srgbClr val="000000">
                    <a:alpha val="0"/>
                  </a:srgbClr>
                </a:highlight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" y="558800"/>
            <a:ext cx="24511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BBFE4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汇报人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60400" y="825500"/>
            <a:ext cx="24511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BBBFE4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李志彭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245600" y="558800"/>
            <a:ext cx="22987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BBFE4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演讲时间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245600" y="825500"/>
            <a:ext cx="22987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BBBFE4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2024年10月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0400" y="3937000"/>
            <a:ext cx="1087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致谢：感谢老师的指导！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4904273"/>
            <a:ext cx="1087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000" b="0" i="0" u="none" strike="noStrike">
                <a:solidFill>
                  <a:srgbClr val="FFFFFF"/>
                </a:solidFill>
                <a:latin typeface="ChillDINGothic SemiBold"/>
                <a:ea typeface="ChillDINGothic SemiBold"/>
                <a:cs typeface="ChillDINGothic SemiBold"/>
                <a:sym typeface="ChillDINGothic SemiBold"/>
              </a:rPr>
              <a:t>基于CNN的芯片表面缺陷智能检测系统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2443</Words>
  <Application>WPS 演示</Application>
  <PresentationFormat/>
  <Paragraphs>187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Arial</vt:lpstr>
      <vt:lpstr>ChillDINGothic SemiBold</vt:lpstr>
      <vt:lpstr>Noto Sans SC</vt:lpstr>
      <vt:lpstr>微软雅黑</vt:lpstr>
      <vt:lpstr>Arial Unicode MS</vt:lpstr>
      <vt:lpstr>ChillDINGothic SemiBold</vt:lpstr>
      <vt:lpstr>Active SemiBold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韩国呕八</cp:lastModifiedBy>
  <cp:revision>1</cp:revision>
  <dcterms:created xsi:type="dcterms:W3CDTF">2026-09-03T09:15:02Z</dcterms:created>
  <dcterms:modified xsi:type="dcterms:W3CDTF">2026-09-03T09:15:02Z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{"Label":"1","ContentProducer":"001191110102MACQD9K64010000","ProduceID":"7681233886684597229","ReservedCode1":"","ContentPropagator":"","PropagateID":"","ReservedCode2":""}</vt:lpwstr>
  </property>
  <property fmtid="{D5CDD505-2E9C-101B-9397-08002B2CF9AE}" pid="3" name="ICV">
    <vt:lpwstr>012A41F1098149A095717B7015742C69_13</vt:lpwstr>
  </property>
  <property fmtid="{D5CDD505-2E9C-101B-9397-08002B2CF9AE}" pid="4" name="KSOProductBuildVer">
    <vt:lpwstr>2052-12.1.0.28043</vt:lpwstr>
  </property>
</Properties>
</file>